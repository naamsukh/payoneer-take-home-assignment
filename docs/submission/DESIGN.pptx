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2120633"/>
            <a:ext cx="6096019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spc="-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ACCESS CONTROL</a:t>
            </a:r>
            <a:r>
              <a:rPr lang="en-US" sz="3300" b="1" spc="-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300" b="1" spc="-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ACROSS MICROSERVICES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61981" y="3183601"/>
            <a:ext cx="4286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Architecture for Multi-Tenant SaaS Platforms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7238" y="4720233"/>
            <a:ext cx="289500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DOCUMENT PRESENTATION |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2541389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OVERVIEW &amp; SCOPE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61981" y="1395431"/>
            <a:ext cx="7620009" cy="1344532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5" name="Text 2"/>
          <p:cNvSpPr/>
          <p:nvPr/>
        </p:nvSpPr>
        <p:spPr>
          <a:xfrm>
            <a:off x="761981" y="1781194"/>
            <a:ext cx="7620009" cy="694339"/>
          </a:xfrm>
          <a:prstGeom prst="rect">
            <a:avLst/>
          </a:prstGeom>
          <a:noFill/>
          <a:ln/>
        </p:spPr>
        <p:txBody>
          <a:bodyPr wrap="square" lIns="255143" tIns="0" rIns="255143" bIns="25514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subject </a:t>
            </a: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</a:t>
            </a: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acting in tenant </a:t>
            </a: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</a:t>
            </a: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perform action </a:t>
            </a: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</a:t>
            </a: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resource </a:t>
            </a: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</a:t>
            </a: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the current </a:t>
            </a:r>
            <a:r>
              <a:rPr lang="en-US" sz="1250" dirty="0">
                <a:solidFill>
                  <a:srgbClr val="2532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environment?"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1981" y="3597213"/>
            <a:ext cx="35956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CHARACTERISTICS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1981" y="3884749"/>
            <a:ext cx="35956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Tenant Isolation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61981" y="4176192"/>
            <a:ext cx="35956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RBAC + ABAC Rules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1981" y="4467634"/>
            <a:ext cx="35956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Forensic Auditability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1981" y="4759077"/>
            <a:ext cx="35956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for Thousands of Tenants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86285" y="3597213"/>
            <a:ext cx="35957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 IMPLEMENTATION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86285" y="3884749"/>
            <a:ext cx="35957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Service &amp; Identity Management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86285" y="4176192"/>
            <a:ext cx="35957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Authorization Service (PDP)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86285" y="4467634"/>
            <a:ext cx="35957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Enforcement Library (PEP)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86285" y="4759077"/>
            <a:ext cx="35957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Services: Expense, Payroll, Invoice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3611166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HIGH-LEVEL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372688"/>
            <a:ext cx="36671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1981" y="1556640"/>
            <a:ext cx="36671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point; terminates TLS, validates JWT, routes requests.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61981" y="1888099"/>
            <a:ext cx="36671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072050"/>
            <a:ext cx="36671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authority; manages tenants, users, and memberships.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1981" y="2403509"/>
            <a:ext cx="36671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PDP (AUTHZ SERVICE)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1981" y="2587461"/>
            <a:ext cx="36671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decision engine for RBAC + ABAC evaluation.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1981" y="2918920"/>
            <a:ext cx="36671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PEP (SHARED LIBRARY)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1981" y="3102871"/>
            <a:ext cx="36671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enforcement middleware in microservices.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61981" y="3434330"/>
            <a:ext cx="36671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TIER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1981" y="3618281"/>
            <a:ext cx="36671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with RLS and Redis for decision caching.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462569" y="1515563"/>
            <a:ext cx="2171700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62569" y="1515563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 (UI / API)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462569" y="2279945"/>
            <a:ext cx="2171700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62569" y="2279945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GATEWAY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451853" y="3044326"/>
            <a:ext cx="1042988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51853" y="3044326"/>
            <a:ext cx="10429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 SERVICE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6587710" y="3044326"/>
            <a:ext cx="1042988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7710" y="3044326"/>
            <a:ext cx="10429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MICROSERVICES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462569" y="3701551"/>
            <a:ext cx="2171700" cy="457200"/>
          </a:xfrm>
          <a:prstGeom prst="rect">
            <a:avLst/>
          </a:prstGeom>
          <a:solidFill>
            <a:srgbClr val="EE6C4D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62569" y="3701551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PDP (DECISION ENGINE)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451853" y="4465932"/>
            <a:ext cx="1042988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51853" y="4465932"/>
            <a:ext cx="10429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(RLS)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587710" y="4465932"/>
            <a:ext cx="1042988" cy="457200"/>
          </a:xfrm>
          <a:prstGeom prst="rect">
            <a:avLst/>
          </a:prstGeom>
          <a:solidFill>
            <a:srgbClr val="98C1D9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7710" y="4465932"/>
            <a:ext cx="10429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REDIS CACHE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2794992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IDENTITY &amp; TENANCY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47706" y="2229799"/>
            <a:ext cx="128408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IDENTITY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61981" y="2660210"/>
            <a:ext cx="23494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 is a </a:t>
            </a:r>
            <a:r>
              <a:rPr lang="en-US" sz="800" b="1" dirty="0">
                <a:solidFill>
                  <a:srgbClr val="EE6C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principal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the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platform. Identity and credentials are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global, while participation is local.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61981" y="3465974"/>
            <a:ext cx="23494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happens at the global level, ensuring a unified user experience across multiple organizations.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482941" y="2229799"/>
            <a:ext cx="9644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MEMBERSHIP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97216" y="2660210"/>
            <a:ext cx="2349512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800" b="1" dirty="0">
                <a:solidFill>
                  <a:srgbClr val="EE6C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Membership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defines a user's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 in a specific tenant. It carries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roles and org-unit assignments for that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397216" y="3648838"/>
            <a:ext cx="234951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belong to many tenants but act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</a:t>
            </a:r>
            <a:r>
              <a:rPr lang="en-US" sz="800" b="1" dirty="0">
                <a:solidFill>
                  <a:srgbClr val="EE6C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active tenant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a time via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tokens.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18203" y="2229799"/>
            <a:ext cx="7715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2478" y="2660210"/>
            <a:ext cx="23494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isolation is enforced through a </a:t>
            </a:r>
            <a:r>
              <a:rPr lang="en-US" sz="800" b="1" dirty="0">
                <a:solidFill>
                  <a:srgbClr val="EE6C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Defense in Depth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strategy across three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layers: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32478" y="3423112"/>
            <a:ext cx="2349484" cy="271463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3" name="Text 10"/>
          <p:cNvSpPr/>
          <p:nvPr/>
        </p:nvSpPr>
        <p:spPr>
          <a:xfrm>
            <a:off x="6032478" y="3423112"/>
            <a:ext cx="2349484" cy="271463"/>
          </a:xfrm>
          <a:prstGeom prst="rect">
            <a:avLst/>
          </a:prstGeom>
          <a:noFill/>
          <a:ln/>
        </p:spPr>
        <p:txBody>
          <a:bodyPr wrap="square" lIns="1021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JWT LAYER (SCOPED CLAIMS)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32478" y="3751724"/>
            <a:ext cx="2349484" cy="271463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5" name="Text 12"/>
          <p:cNvSpPr/>
          <p:nvPr/>
        </p:nvSpPr>
        <p:spPr>
          <a:xfrm>
            <a:off x="6032478" y="3751724"/>
            <a:ext cx="2349484" cy="271463"/>
          </a:xfrm>
          <a:prstGeom prst="rect">
            <a:avLst/>
          </a:prstGeom>
          <a:noFill/>
          <a:ln/>
        </p:spPr>
        <p:txBody>
          <a:bodyPr wrap="square" lIns="1021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APPLICATION LAYER (PEP)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032478" y="4080337"/>
            <a:ext cx="2349484" cy="271463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7" name="Text 14"/>
          <p:cNvSpPr/>
          <p:nvPr/>
        </p:nvSpPr>
        <p:spPr>
          <a:xfrm>
            <a:off x="6032478" y="4080337"/>
            <a:ext cx="2349484" cy="271463"/>
          </a:xfrm>
          <a:prstGeom prst="rect">
            <a:avLst/>
          </a:prstGeom>
          <a:noFill/>
          <a:ln/>
        </p:spPr>
        <p:txBody>
          <a:bodyPr wrap="square" lIns="1021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DATABASE LAYER (POSTGRES RLS)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5204222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ACCESS CONTROL MODEL: RBAC + ABAC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627184"/>
            <a:ext cx="3524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APPROACH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61981" y="1971870"/>
            <a:ext cx="35242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RBAC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981" y="2236189"/>
            <a:ext cx="352424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Coarse-grained, role-driven. Answers "What is this user generally allowed to do?". Supports role inheritance and hierarchical structures.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61981" y="3043433"/>
            <a:ext cx="35242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ABAC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1981" y="3307752"/>
            <a:ext cx="352424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Fine-grained, attribute-driven. Answers "...but only if specific conditions hold?". Evaluates subject, resource, and environment attributes.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57722" y="1627184"/>
            <a:ext cx="35242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RESOLUTION FLOW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57722" y="1971870"/>
            <a:ext cx="3524269" cy="428625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1" name="Text 8"/>
          <p:cNvSpPr/>
          <p:nvPr/>
        </p:nvSpPr>
        <p:spPr>
          <a:xfrm>
            <a:off x="5000597" y="2117424"/>
            <a:ext cx="1339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241699" y="2117424"/>
            <a:ext cx="301109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RESOLVE EFFECTIVE PERMISSIONS VIA ROLE GRAPH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57722" y="2543370"/>
            <a:ext cx="3524269" cy="428625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4" name="Text 11"/>
          <p:cNvSpPr/>
          <p:nvPr/>
        </p:nvSpPr>
        <p:spPr>
          <a:xfrm>
            <a:off x="5000597" y="2688924"/>
            <a:ext cx="1553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63130" y="2688924"/>
            <a:ext cx="264854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MATCH SERVICE : RESOURCE : ACTION TRIPLE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857722" y="3114870"/>
            <a:ext cx="3524269" cy="428625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597" y="3260424"/>
            <a:ext cx="1589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66702" y="3260424"/>
            <a:ext cx="218777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EVALUATE ATTACHED ABAC POLICIES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857722" y="3686370"/>
            <a:ext cx="3524269" cy="428625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20" name="Text 17"/>
          <p:cNvSpPr/>
          <p:nvPr/>
        </p:nvSpPr>
        <p:spPr>
          <a:xfrm>
            <a:off x="5000597" y="3831924"/>
            <a:ext cx="1625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70274" y="3831924"/>
            <a:ext cx="195560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FINAL DECISION: ALLOW OR DENY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57722" y="4400745"/>
            <a:ext cx="3524269" cy="46791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PRINCIPLE: Explicit DENY wins; Default is DENY.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5545336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AUTHENTICATION &amp; AUTHORIZATION 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788812"/>
            <a:ext cx="23494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61981" y="2203149"/>
            <a:ext cx="23494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&amp; SELECTION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61981" y="2590698"/>
            <a:ext cx="2349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authenticates global identity and selects an active tenant organization.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397216" y="1788812"/>
            <a:ext cx="23495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3397216" y="2203149"/>
            <a:ext cx="23495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ISSUANCE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97216" y="2590698"/>
            <a:ext cx="23495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Service issues a short-lived JWT cryptographically scoped to the selected tenant.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032478" y="1788812"/>
            <a:ext cx="23494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032478" y="2203149"/>
            <a:ext cx="23494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REQUEST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2478" y="2590698"/>
            <a:ext cx="23494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calls microservice API with the JWT; Gateway validates signature and tenant context.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1981" y="3680454"/>
            <a:ext cx="23494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761981" y="4094792"/>
            <a:ext cx="23494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PEP ENFORCEMENT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1981" y="4482340"/>
            <a:ext cx="23494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 library checks Redis cache for a decision; on miss, it forwards context to the PDP.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97216" y="3680454"/>
            <a:ext cx="23495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05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3397216" y="4094792"/>
            <a:ext cx="23495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PDP DECISION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97216" y="4482340"/>
            <a:ext cx="23495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PDP evaluates RBAC/ABAC rules, logs the audit trail, and returns an allow/deny response.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032478" y="3680454"/>
            <a:ext cx="23494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06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6032478" y="4094792"/>
            <a:ext cx="23494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32478" y="4482340"/>
            <a:ext cx="23494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 executes the business logic if allowed, or returns a 403 Forbidden with reason.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4852392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MULTI-TENANT ISOLATION STRATEGY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2091640"/>
            <a:ext cx="234948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SCOPED TOKENS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1981" y="2509549"/>
            <a:ext cx="234948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JWTs are cryptographically bound to a single tenant context. Switching tenants requires re-authentication and a new token issuance, preventing cross-tenant identity leakage.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397216" y="2091640"/>
            <a:ext cx="234951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LOGICAL ISOLATION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97216" y="2509549"/>
            <a:ext cx="2349512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database table includes a mandatory </a:t>
            </a:r>
            <a:r>
              <a:rPr lang="en-US" sz="800" b="1" dirty="0">
                <a:solidFill>
                  <a:srgbClr val="2F3E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tenant_id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column. Application logic and the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 middleware enforce this boundary at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level for all business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32478" y="2091640"/>
            <a:ext cx="234948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POSTGRES RLS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2478" y="2509549"/>
            <a:ext cx="2349484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Row-Level Security acts as the final line of defense. The database itself rejects any query that attempts to access data outside the current session's tenant context.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1981" y="3977394"/>
            <a:ext cx="7620009" cy="1166106"/>
          </a:xfrm>
          <a:prstGeom prst="rect">
            <a:avLst/>
          </a:prstGeom>
          <a:noFill/>
          <a:ln/>
        </p:spPr>
        <p:txBody>
          <a:bodyPr wrap="square" lIns="0" tIns="680339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3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DEFENSE IN DEPTH: ISOLATION AT EVERY LAYER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4136231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SERVICE-TO-SERVICE SECURITY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443233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Service JWTs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1981" y="1655759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Short-lived tokens with 'svc' claims verify the calling microservice's identity before trusting forwarded user context.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61981" y="2227259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Audience Scoping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439786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carry 'aud' claims (e.g., 'authz') to prevent replay attacks against unintended services.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1981" y="3011286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Audit Context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1981" y="3223813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records both the user (subject) and the calling service (caller_svc) for full forensic traceability.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86285" y="1443233"/>
            <a:ext cx="3595706" cy="3700267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1" name="Text 8"/>
          <p:cNvSpPr/>
          <p:nvPr/>
        </p:nvSpPr>
        <p:spPr>
          <a:xfrm>
            <a:off x="5501860" y="1871858"/>
            <a:ext cx="21645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 IDENTITY TRUST MODEL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26850" y="2216544"/>
            <a:ext cx="2314575" cy="600075"/>
          </a:xfrm>
          <a:prstGeom prst="rect">
            <a:avLst/>
          </a:prstGeom>
          <a:solidFill>
            <a:srgbClr val="E0FBFC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23353" y="2386208"/>
            <a:ext cx="112156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F3E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AUTHENTICATED SERVICE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045677" y="2491578"/>
            <a:ext cx="1076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Expense Service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24309" y="2945206"/>
            <a:ext cx="11965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26850" y="3295250"/>
            <a:ext cx="2314575" cy="600075"/>
          </a:xfrm>
          <a:prstGeom prst="rect">
            <a:avLst/>
          </a:prstGeom>
          <a:solidFill>
            <a:srgbClr val="E0FBFC"/>
          </a:solidFill>
          <a:ln w="18288">
            <a:solidFill>
              <a:srgbClr val="2532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8730" y="3464914"/>
            <a:ext cx="81081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F3E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AUTHORIZED USER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143011" y="3570284"/>
            <a:ext cx="8822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Subject: u123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41138" y="4166788"/>
            <a:ext cx="2286000" cy="714375"/>
          </a:xfrm>
          <a:prstGeom prst="rect">
            <a:avLst/>
          </a:prstGeom>
          <a:solidFill>
            <a:srgbClr val="253237"/>
          </a:solidFill>
          <a:ln/>
        </p:spPr>
      </p:sp>
      <p:sp>
        <p:nvSpPr>
          <p:cNvPr id="20" name="Text 17"/>
          <p:cNvSpPr/>
          <p:nvPr/>
        </p:nvSpPr>
        <p:spPr>
          <a:xfrm>
            <a:off x="5441138" y="4166788"/>
            <a:ext cx="2286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E0FB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PDP DECISION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3584377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SCALABILITY &amp; RELIABILITY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69138" y="1890610"/>
            <a:ext cx="166628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 THROUGHPUT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1981" y="2294232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STATELESS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506759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services scale horizontally behind the API gateway to handle increasing request volumes.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1981" y="3099690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CACHING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1981" y="3312216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absorbs repeated authorization checks, significantly reducing latency and PDP load.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61981" y="3797991"/>
            <a:ext cx="3595678" cy="714375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0" name="Text 7"/>
          <p:cNvSpPr/>
          <p:nvPr/>
        </p:nvSpPr>
        <p:spPr>
          <a:xfrm>
            <a:off x="904856" y="4070347"/>
            <a:ext cx="345280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p99 &lt; 10ms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4856" y="4277516"/>
            <a:ext cx="345280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LATENCY ON CACHE HIT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893441" y="1890610"/>
            <a:ext cx="175914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SYSTEM RESILIENCE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86285" y="2294232"/>
            <a:ext cx="35957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FAIL-SAFE DEFAULTS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86285" y="2506759"/>
            <a:ext cx="35957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 denies access if the PDP is unreachable (Secure by Default) for sensitive operations.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86285" y="3099690"/>
            <a:ext cx="35957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GRACEFUL DEGRADATION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86285" y="3312216"/>
            <a:ext cx="35957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Redis is unavailable, the system falls back to direct PDP calls, maintaining correctness over speed.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86285" y="3905148"/>
            <a:ext cx="35957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DURABILITY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86285" y="4117674"/>
            <a:ext cx="35957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are partitioned and archived; critical decisions are written before response return.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3312914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636784"/>
            <a:ext cx="35956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PRINCIPLES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61981" y="1981470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165421"/>
            <a:ext cx="35956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Append-only trail of every decision and admin change, supporting SOC2/GDPR reviews.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1981" y="2656889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Least Privilege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1981" y="2840841"/>
            <a:ext cx="35956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permissions granted via roles, further narrowed by dynamic ABAC policies.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1981" y="3332308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Injection-Safe ABAC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81" y="3516260"/>
            <a:ext cx="35956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DSL evaluated by a safe interpreter, eliminating sandbox-escape surfaces.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86285" y="1493909"/>
            <a:ext cx="3595706" cy="2957959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2" name="Text 9"/>
          <p:cNvSpPr/>
          <p:nvPr/>
        </p:nvSpPr>
        <p:spPr>
          <a:xfrm>
            <a:off x="5000597" y="1851096"/>
            <a:ext cx="31670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SURFACE HARDENING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00597" y="2195782"/>
            <a:ext cx="31670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REQUIRE_TENANT_ADMIN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Privileged endpoints now require a tenant-scoped token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explicit admin role.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0597" y="2853007"/>
            <a:ext cx="31670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VERTICAL ESCALATION PROTECTION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holes where regular members could fabricate roles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grant themselves permissions.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00597" y="3510232"/>
            <a:ext cx="31670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ADMIN-CHANGE AUDITING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PAP mutation writes a forensic trail, ensuring all </a:t>
            </a: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changes are traceable.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1981" y="4451868"/>
            <a:ext cx="7620009" cy="691632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spc="2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FOR SOC 2, ISO 27001, AND GDPR COMPLIANCE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18353"/>
            <a:ext cx="4363045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25323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TRADEOFFS &amp; FUTURE EVOLUTION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899540"/>
            <a:ext cx="35956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TRADEOFFS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61981" y="2244226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RBAC+ABAC VS REBAC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456752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immediate manageability and alignment with standard SaaS requirements over complex relationship graphs.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1981" y="3028252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CENTRALIZED VS DISTRIBUTED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1981" y="3240779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decision-making ensures consistency; distributed enforcement (PEP) provides high performance.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1981" y="3812279"/>
            <a:ext cx="35956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AS POLICY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81" y="4024805"/>
            <a:ext cx="359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E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stored as JSON DSL data for easy UI management and versioning without code redeploys.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86285" y="1899540"/>
            <a:ext cx="35957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2532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86285" y="2244226"/>
            <a:ext cx="3595706" cy="357188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3" name="Text 10"/>
          <p:cNvSpPr/>
          <p:nvPr/>
        </p:nvSpPr>
        <p:spPr>
          <a:xfrm>
            <a:off x="4929160" y="2354061"/>
            <a:ext cx="1339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70261" y="2354061"/>
            <a:ext cx="166270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ReBAC / Zanzibar Integration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86285" y="2687138"/>
            <a:ext cx="3595706" cy="357188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6" name="Text 13"/>
          <p:cNvSpPr/>
          <p:nvPr/>
        </p:nvSpPr>
        <p:spPr>
          <a:xfrm>
            <a:off x="4929160" y="2796973"/>
            <a:ext cx="1553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91692" y="2796973"/>
            <a:ext cx="15876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Platform-Wide Admin Roles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86285" y="3130051"/>
            <a:ext cx="3595706" cy="357188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19" name="Text 16"/>
          <p:cNvSpPr/>
          <p:nvPr/>
        </p:nvSpPr>
        <p:spPr>
          <a:xfrm>
            <a:off x="4929160" y="3239886"/>
            <a:ext cx="1589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95264" y="3239886"/>
            <a:ext cx="17323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Versioned Schema Migrations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86285" y="3572963"/>
            <a:ext cx="3595706" cy="357188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22" name="Text 19"/>
          <p:cNvSpPr/>
          <p:nvPr/>
        </p:nvSpPr>
        <p:spPr>
          <a:xfrm>
            <a:off x="4929160" y="3682798"/>
            <a:ext cx="1625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98836" y="3682798"/>
            <a:ext cx="177522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Advanced SSO &amp; SCIM Support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86285" y="4015876"/>
            <a:ext cx="3595706" cy="357188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25" name="Text 22"/>
          <p:cNvSpPr/>
          <p:nvPr/>
        </p:nvSpPr>
        <p:spPr>
          <a:xfrm>
            <a:off x="4929160" y="4125711"/>
            <a:ext cx="1553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91692" y="4125711"/>
            <a:ext cx="206811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6C4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Real-time Revocation via Webhooks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2026-06-05T09:28:58Z</dcterms:created>
  <dcterms:modified xsi:type="dcterms:W3CDTF">2026-06-05T09:28:58Z</dcterms:modified>
</cp:coreProperties>
</file>